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0" r:id="rId4"/>
    <p:sldId id="281" r:id="rId5"/>
    <p:sldId id="275" r:id="rId6"/>
    <p:sldId id="274" r:id="rId7"/>
    <p:sldId id="276" r:id="rId8"/>
    <p:sldId id="278" r:id="rId9"/>
    <p:sldId id="279" r:id="rId10"/>
    <p:sldId id="280" r:id="rId11"/>
    <p:sldId id="277" r:id="rId12"/>
    <p:sldId id="259" r:id="rId13"/>
    <p:sldId id="262" r:id="rId14"/>
    <p:sldId id="267" r:id="rId15"/>
    <p:sldId id="269" r:id="rId16"/>
    <p:sldId id="271" r:id="rId17"/>
    <p:sldId id="272" r:id="rId18"/>
    <p:sldId id="282" r:id="rId19"/>
    <p:sldId id="28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426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23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0783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is not a visual redesign proposal. It is the result of auditing my own university website, benchmarking it against leading universities, and translating the gaps into a measurable digital architecture and MVP.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distinction between content volume and information architecture. The research focuses on the latter.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screenshots as evidence, not as a claim that one visual layout automatically causes higher rankings. The actual research point is depth and discoverability of academic entities.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defense slide. Keep the answer simple and confident: audit → benchmark → gap analysis → architecture → MVP →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1527"/>
          </a:solidFill>
          <a:ln w="12700">
            <a:solidFill>
              <a:srgbClr val="8A15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7620">
            <a:solidFill>
              <a:srgbClr val="D7DC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CECOS UNIVERSITY • WEBSITE RESEARCH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778240" y="656539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Yaseen Ahmad • August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1527"/>
          </a:solidFill>
          <a:ln w="12700">
            <a:solidFill>
              <a:srgbClr val="8A15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583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180" dirty="0">
                <a:solidFill>
                  <a:srgbClr val="FFFFFF"/>
                </a:solidFill>
              </a:rPr>
              <a:t>CECOS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143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80" dirty="0">
                <a:solidFill>
                  <a:srgbClr val="DCE7F4"/>
                </a:solidFill>
              </a:rPr>
              <a:t>UNIVERSITY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87452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Website Research,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Competitive Benchmarking &amp;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Recommended Digital Architecture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4005072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BD6E4"/>
                </a:solidFill>
              </a:rPr>
              <a:t>A research-led audit of CECOS University’s public web ecosystem, compared with leading Pakistani and international university sites.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5010912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2A3D56"/>
          </a:solidFill>
          <a:ln w="12700">
            <a:solidFill>
              <a:srgbClr val="2A3D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5084064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FIRST-HAND AUDIT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87168" y="501091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A3D56"/>
          </a:solidFill>
          <a:ln w="12700">
            <a:solidFill>
              <a:srgbClr val="2A3D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5084064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10-UNIVERSITY BENCHMARK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09744" y="501091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2A3D56"/>
          </a:solidFill>
          <a:ln w="12700">
            <a:solidFill>
              <a:srgbClr val="2A3D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5084064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MVP + INFORMATION ARCHITECTURE</a:t>
            </a:r>
            <a:endParaRPr lang="en-US" sz="850" dirty="0"/>
          </a:p>
        </p:txBody>
      </p:sp>
      <p:pic>
        <p:nvPicPr>
          <p:cNvPr id="14" name="Image 0" descr="/mnt/data/cecos_visuals/current_vs_propo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245646"/>
            <a:ext cx="3246120" cy="19552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A1527"/>
                </a:solidFill>
              </a:rPr>
              <a:t>01 — CORE THESIS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</a:rPr>
              <a:t>The problem is not a lack of information. It is a lack of information architecture.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CECOS already has academic, research, admission and service assets; the challenge is how those assets are organized, connected and surfaced.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EAF5F0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83080"/>
            <a:ext cx="73152" cy="3246120"/>
          </a:xfrm>
          <a:prstGeom prst="rect">
            <a:avLst/>
          </a:prstGeom>
          <a:solidFill>
            <a:srgbClr val="2E8B62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9476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What exists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2313432"/>
            <a:ext cx="310896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Programs, faculty, admissions, fees, research, careers, policies, portals and student services.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70832" y="178308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8ECE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783080"/>
            <a:ext cx="73152" cy="3246120"/>
          </a:xfrm>
          <a:prstGeom prst="rect">
            <a:avLst/>
          </a:prstGeom>
          <a:solidFill>
            <a:srgbClr val="8A1527"/>
          </a:solidFill>
          <a:ln w="12700">
            <a:solidFill>
              <a:srgbClr val="8A15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9476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What is fragmented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313432"/>
            <a:ext cx="310896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Important details are spread across departments, PDFs, portals, news, forms and separate service pages.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47304" y="178308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BF4E1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47304" y="1783080"/>
            <a:ext cx="73152" cy="3246120"/>
          </a:xfrm>
          <a:prstGeom prst="rect">
            <a:avLst/>
          </a:prstGeom>
          <a:solidFill>
            <a:srgbClr val="D8A22D"/>
          </a:solidFill>
          <a:ln w="12700">
            <a:solidFill>
              <a:srgbClr val="D8A2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9476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What users need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48472" y="2313432"/>
            <a:ext cx="310896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A simple journey: discover → evaluate → understand cost/value → trust the institution → apply.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31720" y="5230368"/>
            <a:ext cx="7498080" cy="0"/>
          </a:xfrm>
          <a:prstGeom prst="line">
            <a:avLst/>
          </a:prstGeom>
          <a:noFill/>
          <a:ln w="25400">
            <a:solidFill>
              <a:srgbClr val="0B1F3A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331720" y="528653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RESEARCH OUTCOME → restructure the digital university first; redesign the visual interface second.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6272784"/>
            <a:ext cx="1065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i="1" dirty="0">
                <a:solidFill>
                  <a:srgbClr val="7C8796"/>
                </a:solidFill>
              </a:rPr>
              <a:t>Source: uploaded research document + official benchmark pages listed in the appendix.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A1527"/>
                </a:solidFill>
              </a:rPr>
              <a:t>04 — 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</a:rPr>
              <a:t>Faculty discovery: a high-value trust gap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The research found that CECOS presents useful names/designations, but the academic profile depth and discovery model are much thinner than the benchmark pattern.</a:t>
            </a:r>
            <a:endParaRPr lang="en-US" sz="1200" dirty="0"/>
          </a:p>
        </p:txBody>
      </p:sp>
      <p:pic>
        <p:nvPicPr>
          <p:cNvPr id="5" name="Image 0" descr="/mnt/data/cecos_ppt_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41054"/>
            <a:ext cx="5212080" cy="2236586"/>
          </a:xfrm>
          <a:prstGeom prst="rect">
            <a:avLst/>
          </a:prstGeom>
        </p:spPr>
      </p:pic>
      <p:pic>
        <p:nvPicPr>
          <p:cNvPr id="6" name="Image 1" descr="/mnt/data/cecos_ppt_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178" y="1737360"/>
            <a:ext cx="4734725" cy="2240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404164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1527"/>
                </a:solidFill>
              </a:rPr>
              <a:t>CECOS — basic listing / shallow profile layer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309360" y="404164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FAF"/>
                </a:solidFill>
              </a:rPr>
              <a:t>LUMS — richer individual academic profile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85800" y="452628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8ECE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85800" y="4526280"/>
            <a:ext cx="73152" cy="1051560"/>
          </a:xfrm>
          <a:prstGeom prst="rect">
            <a:avLst/>
          </a:prstGeom>
          <a:solidFill>
            <a:srgbClr val="8A1527"/>
          </a:solidFill>
          <a:ln w="12700">
            <a:solidFill>
              <a:srgbClr val="8A152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86968" y="4690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Gap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86968" y="5056632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Research identity is not strongly surfaced at the person level.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389120" y="452628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EAF2FB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389120" y="4526280"/>
            <a:ext cx="73152" cy="1051560"/>
          </a:xfrm>
          <a:prstGeom prst="rect">
            <a:avLst/>
          </a:prstGeom>
          <a:solidFill>
            <a:srgbClr val="1F5FAF"/>
          </a:solidFill>
          <a:ln w="12700">
            <a:solidFill>
              <a:srgbClr val="1F5FA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90288" y="4690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Recommendation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90288" y="5056632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Searchable faculty entities linked to program, research and publications.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092440" y="452628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EAF5F0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092440" y="4526280"/>
            <a:ext cx="73152" cy="1051560"/>
          </a:xfrm>
          <a:prstGeom prst="rect">
            <a:avLst/>
          </a:prstGeom>
          <a:solidFill>
            <a:srgbClr val="2E8B62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293608" y="4690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Target model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293608" y="5056632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Person → Department → Program → Research → Publications.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66928" y="6272784"/>
            <a:ext cx="1065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i="1" dirty="0">
                <a:solidFill>
                  <a:srgbClr val="7C8796"/>
                </a:solidFill>
              </a:rPr>
              <a:t>Source: user-supplied research document, pp. 1–2; LUMS benchmark pattern.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ecos_ppt_assets/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" y="622300"/>
            <a:ext cx="120015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181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4343"/>
            <a:ext cx="12192000" cy="46700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8286" y="537029"/>
            <a:ext cx="660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LUMS UNIVERSITY SHOWS THEIR FACULTY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86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g-current.png"/>
          <p:cNvSpPr>
            <a:spLocks noChangeAspect="1" noChangeArrowheads="1"/>
          </p:cNvSpPr>
          <p:nvPr/>
        </p:nvSpPr>
        <p:spPr bwMode="auto">
          <a:xfrm>
            <a:off x="155574" y="-144463"/>
            <a:ext cx="3692525" cy="3692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509"/>
            <a:ext cx="12192000" cy="38449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7270"/>
            <a:ext cx="12192000" cy="462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660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20914" y="1187612"/>
            <a:ext cx="11248571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feature: Interactive campus map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site gives an address and facilities but should give users a real map.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Campus Map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├── Administration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├── Departments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├── Student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Support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├── Library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├── Labs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├── Cafeteria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├── Mosque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├── Physio</a:t>
            </a:r>
            <a:r>
              <a:rPr lang="en-US" altLang="en-US" sz="2000" dirty="0" smtClean="0">
                <a:latin typeface="Arial Unicode MS"/>
              </a:rPr>
              <a:t>therapy Clinic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├── Parking</a:t>
            </a:r>
          </a:p>
        </p:txBody>
      </p:sp>
    </p:spTree>
    <p:extLst>
      <p:ext uri="{BB962C8B-B14F-4D97-AF65-F5344CB8AC3E}">
        <p14:creationId xmlns:p14="http://schemas.microsoft.com/office/powerpoint/2010/main" val="873248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772" y="203200"/>
            <a:ext cx="8955595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266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6100" y="406400"/>
            <a:ext cx="9588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Missing Features to be noted: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46100" y="1231900"/>
            <a:ext cx="10833100" cy="4927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46100" y="1422400"/>
            <a:ext cx="105537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Student Projects / FYP Showcase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Display real student projects with problem, solution, technologies, supervisor, students, demo and outcomes to provide evidence of practical learning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Missing Events &amp; Academic Information</a:t>
            </a:r>
          </a:p>
          <a:p>
            <a:endParaRPr lang="en-US" b="1" dirty="0" smtClean="0"/>
          </a:p>
          <a:p>
            <a:r>
              <a:rPr lang="en-US" b="1" dirty="0" smtClean="0"/>
              <a:t>Events </a:t>
            </a:r>
            <a:r>
              <a:rPr lang="en-US" b="1" dirty="0"/>
              <a:t>&amp; Calendar System</a:t>
            </a:r>
          </a:p>
          <a:p>
            <a:r>
              <a:rPr lang="en-US" dirty="0"/>
              <a:t>CECOS has event content, but it is fragmented across pages and departments. </a:t>
            </a:r>
          </a:p>
          <a:p>
            <a:r>
              <a:rPr lang="en-US" dirty="0"/>
              <a:t>Add one searchable calendar with </a:t>
            </a:r>
            <a:r>
              <a:rPr lang="en-US" b="1" dirty="0"/>
              <a:t>upcoming/past events, registration, speakers, location and event details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b="1" dirty="0" smtClean="0"/>
              <a:t>PEOs </a:t>
            </a:r>
            <a:r>
              <a:rPr lang="en-US" b="1" dirty="0"/>
              <a:t>&amp; PLOs</a:t>
            </a:r>
          </a:p>
          <a:p>
            <a:r>
              <a:rPr lang="en-US" dirty="0"/>
              <a:t>PEO/PLO information exists, but is not consistently visible across all programs. </a:t>
            </a:r>
          </a:p>
          <a:p>
            <a:r>
              <a:rPr lang="en-US" dirty="0"/>
              <a:t>Add dedicated </a:t>
            </a:r>
            <a:r>
              <a:rPr lang="en-US" b="1" dirty="0"/>
              <a:t>PEO, PLO, curriculum and outcome-mapping sections</a:t>
            </a:r>
            <a:r>
              <a:rPr lang="en-US" dirty="0"/>
              <a:t> to every relevant program page. </a:t>
            </a:r>
          </a:p>
          <a:p>
            <a:r>
              <a:rPr lang="en-US" b="1" dirty="0" smtClean="0"/>
              <a:t>Search </a:t>
            </a:r>
            <a:r>
              <a:rPr lang="en-US" b="1" dirty="0"/>
              <a:t>&amp; Discovery</a:t>
            </a:r>
          </a:p>
          <a:p>
            <a:r>
              <a:rPr lang="en-US" dirty="0"/>
              <a:t>Important academic information can be difficult to find quickly. </a:t>
            </a:r>
          </a:p>
          <a:p>
            <a:r>
              <a:rPr lang="en-US" dirty="0"/>
              <a:t>Add a strong </a:t>
            </a:r>
            <a:r>
              <a:rPr lang="en-US" b="1" dirty="0"/>
              <a:t>site-wide search</a:t>
            </a:r>
            <a:r>
              <a:rPr lang="en-US" dirty="0"/>
              <a:t> covering programs, faculty, policies, research, events and documents.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4663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2600" y="662920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Missing Policies &amp; Governance </a:t>
            </a:r>
            <a:r>
              <a:rPr lang="en-US" sz="3600" b="1" dirty="0" smtClean="0"/>
              <a:t>Architecture: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82600" y="1615420"/>
            <a:ext cx="108331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Central Policy &amp; Governance </a:t>
            </a:r>
            <a:r>
              <a:rPr lang="en-US" sz="2000" b="1" dirty="0" smtClean="0"/>
              <a:t>Hub</a:t>
            </a:r>
          </a:p>
          <a:p>
            <a:endParaRPr lang="en-US" sz="2000" b="1" dirty="0"/>
          </a:p>
          <a:p>
            <a:r>
              <a:rPr lang="en-US" sz="2000" dirty="0"/>
              <a:t>Policies are distributed across departments, QEC, ORIC and other offices. </a:t>
            </a:r>
          </a:p>
          <a:p>
            <a:r>
              <a:rPr lang="en-US" sz="2000" dirty="0"/>
              <a:t>Create one searchable hub with </a:t>
            </a:r>
            <a:r>
              <a:rPr lang="en-US" sz="2000" b="1" dirty="0"/>
              <a:t>policy owner, category, version/date and downloadable document</a:t>
            </a:r>
            <a:r>
              <a:rPr lang="en-US" sz="2000" dirty="0"/>
              <a:t>. </a:t>
            </a:r>
            <a:endParaRPr lang="en-US" sz="2000" dirty="0" smtClean="0"/>
          </a:p>
          <a:p>
            <a:endParaRPr lang="en-US" sz="2000" dirty="0"/>
          </a:p>
          <a:p>
            <a:r>
              <a:rPr lang="en-US" sz="2000" b="1" dirty="0" smtClean="0"/>
              <a:t>1. QEC </a:t>
            </a:r>
            <a:r>
              <a:rPr lang="en-US" sz="2000" b="1" dirty="0"/>
              <a:t>Policy </a:t>
            </a:r>
            <a:r>
              <a:rPr lang="en-US" sz="2000" b="1" dirty="0" smtClean="0"/>
              <a:t>Hub</a:t>
            </a:r>
            <a:r>
              <a:rPr lang="en-US" sz="2000" dirty="0" smtClean="0"/>
              <a:t>. </a:t>
            </a:r>
          </a:p>
          <a:p>
            <a:endParaRPr lang="en-US" sz="2000" dirty="0"/>
          </a:p>
          <a:p>
            <a:r>
              <a:rPr lang="en-US" sz="2000" b="1" dirty="0" smtClean="0"/>
              <a:t>2. </a:t>
            </a:r>
            <a:r>
              <a:rPr lang="en-US" sz="2000" b="1" dirty="0"/>
              <a:t>ORIC Policy </a:t>
            </a:r>
            <a:r>
              <a:rPr lang="en-US" sz="2000" b="1" dirty="0" smtClean="0"/>
              <a:t>Hub</a:t>
            </a:r>
          </a:p>
          <a:p>
            <a:r>
              <a:rPr lang="en-US" sz="2000" dirty="0" smtClean="0"/>
              <a:t> </a:t>
            </a:r>
            <a:endParaRPr lang="en-US" sz="2000" dirty="0"/>
          </a:p>
          <a:p>
            <a:r>
              <a:rPr lang="en-US" sz="2000" b="1" dirty="0" smtClean="0"/>
              <a:t>3. </a:t>
            </a:r>
            <a:r>
              <a:rPr lang="en-US" sz="2000" b="1" dirty="0"/>
              <a:t>PLEC Information &amp; Policy </a:t>
            </a:r>
            <a:r>
              <a:rPr lang="en-US" sz="2000" b="1" dirty="0" smtClean="0"/>
              <a:t>Hub</a:t>
            </a:r>
            <a:endParaRPr lang="en-US" sz="20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98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g-grieva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29" y="1219200"/>
            <a:ext cx="11393714" cy="5462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5714" y="435429"/>
            <a:ext cx="965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Suggested Changes: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784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A1527"/>
                </a:solidFill>
              </a:rPr>
              <a:t>03 — BENCHMARK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</a:rPr>
              <a:t>The comparison set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I studied five Pakistani and five international universities to extract patterns—not to copy their visual styles.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1527"/>
                </a:solidFill>
              </a:rPr>
              <a:t>PAKISTAN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55080" y="16002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FAF"/>
                </a:solidFill>
              </a:rPr>
              <a:t>INTERNATIONAL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25780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920240"/>
            <a:ext cx="73152" cy="612648"/>
          </a:xfrm>
          <a:prstGeom prst="rect">
            <a:avLst/>
          </a:prstGeom>
          <a:solidFill>
            <a:srgbClr val="8A1527"/>
          </a:solidFill>
          <a:ln w="12700">
            <a:solidFill>
              <a:srgbClr val="8A15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0848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NUST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6968" y="2450592"/>
            <a:ext cx="49377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Academics, admissions, research, international, campus life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2670048"/>
            <a:ext cx="525780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670048"/>
            <a:ext cx="73152" cy="612648"/>
          </a:xfrm>
          <a:prstGeom prst="rect">
            <a:avLst/>
          </a:prstGeom>
          <a:solidFill>
            <a:srgbClr val="8A1527"/>
          </a:solidFill>
          <a:ln w="12700">
            <a:solidFill>
              <a:srgbClr val="8A15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8346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LUMS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6968" y="3200400"/>
            <a:ext cx="49377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Faculty depth, program discovery, applicant information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3419856"/>
            <a:ext cx="525780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419856"/>
            <a:ext cx="73152" cy="612648"/>
          </a:xfrm>
          <a:prstGeom prst="rect">
            <a:avLst/>
          </a:prstGeom>
          <a:solidFill>
            <a:srgbClr val="8A1527"/>
          </a:solidFill>
          <a:ln w="12700">
            <a:solidFill>
              <a:srgbClr val="8A15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5844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COMSATS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6968" y="3950208"/>
            <a:ext cx="49377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Programs, research, students, alumni, campuses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4169664"/>
            <a:ext cx="525780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169664"/>
            <a:ext cx="73152" cy="612648"/>
          </a:xfrm>
          <a:prstGeom prst="rect">
            <a:avLst/>
          </a:prstGeom>
          <a:solidFill>
            <a:srgbClr val="8A1527"/>
          </a:solidFill>
          <a:ln w="12700">
            <a:solidFill>
              <a:srgbClr val="8A15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33425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GIKI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6968" y="4700016"/>
            <a:ext cx="49377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Program + admissions visibility, scholarships, campus experience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4919472"/>
            <a:ext cx="525780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919472"/>
            <a:ext cx="73152" cy="612648"/>
          </a:xfrm>
          <a:prstGeom prst="rect">
            <a:avLst/>
          </a:prstGeom>
          <a:solidFill>
            <a:srgbClr val="8A1527"/>
          </a:solidFill>
          <a:ln w="12700">
            <a:solidFill>
              <a:srgbClr val="8A15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50840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Habib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86968" y="5449824"/>
            <a:ext cx="49377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Admissions guidance, eligibility, applicant support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1920240"/>
            <a:ext cx="525780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1920240"/>
            <a:ext cx="73152" cy="612648"/>
          </a:xfrm>
          <a:prstGeom prst="rect">
            <a:avLst/>
          </a:prstGeom>
          <a:solidFill>
            <a:srgbClr val="1F5FAF"/>
          </a:solidFill>
          <a:ln w="12700">
            <a:solidFill>
              <a:srgbClr val="1F5FA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0528" y="20848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MIT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10528" y="2450592"/>
            <a:ext cx="49377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Academic + research organization, applicant pathways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2670048"/>
            <a:ext cx="525780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2670048"/>
            <a:ext cx="73152" cy="612648"/>
          </a:xfrm>
          <a:prstGeom prst="rect">
            <a:avLst/>
          </a:prstGeom>
          <a:solidFill>
            <a:srgbClr val="1F5FAF"/>
          </a:solidFill>
          <a:ln w="12700">
            <a:solidFill>
              <a:srgbClr val="1F5FA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0528" y="28346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Stanford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10528" y="3200400"/>
            <a:ext cx="49377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User-group architecture, academics, research, admissions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3419856"/>
            <a:ext cx="525780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3419856"/>
            <a:ext cx="73152" cy="612648"/>
          </a:xfrm>
          <a:prstGeom prst="rect">
            <a:avLst/>
          </a:prstGeom>
          <a:solidFill>
            <a:srgbClr val="1F5FAF"/>
          </a:solidFill>
          <a:ln w="12700">
            <a:solidFill>
              <a:srgbClr val="1F5FA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0528" y="35844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Oxford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10528" y="3950208"/>
            <a:ext cx="49377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Course discovery, requirements, course-centric information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09360" y="4169664"/>
            <a:ext cx="525780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4169664"/>
            <a:ext cx="73152" cy="612648"/>
          </a:xfrm>
          <a:prstGeom prst="rect">
            <a:avLst/>
          </a:prstGeom>
          <a:solidFill>
            <a:srgbClr val="1F5FAF"/>
          </a:solidFill>
          <a:ln w="12700">
            <a:solidFill>
              <a:srgbClr val="1F5FA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10528" y="433425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Cambridge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510528" y="4700016"/>
            <a:ext cx="49377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Course search, fees/funding, student life, international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09360" y="4919472"/>
            <a:ext cx="525780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0" y="4919472"/>
            <a:ext cx="73152" cy="612648"/>
          </a:xfrm>
          <a:prstGeom prst="rect">
            <a:avLst/>
          </a:prstGeom>
          <a:solidFill>
            <a:srgbClr val="1F5FAF"/>
          </a:solidFill>
          <a:ln w="12700">
            <a:solidFill>
              <a:srgbClr val="1F5FA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0528" y="50840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Imperial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510528" y="5449824"/>
            <a:ext cx="49377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Step-by-step application, tracking, find-a-course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66928" y="6272784"/>
            <a:ext cx="1065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i="1" dirty="0">
                <a:solidFill>
                  <a:srgbClr val="7C8796"/>
                </a:solidFill>
              </a:rPr>
              <a:t>Sources: official benchmark pages listed in Appendix; comparative synthesis from the research document.</a:t>
            </a:r>
            <a:endParaRPr lang="en-US" sz="68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A1527"/>
                </a:solidFill>
              </a:rPr>
              <a:t>06 — CONVERSION + SEO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</a:rPr>
              <a:t>Facilities &amp; labs: move from claims to evidence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Engineering and technology applicants want proof of practical learning infrastructure. The research recommends dedicated lab pages with reusable evidence.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EAF2FB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83080"/>
            <a:ext cx="73152" cy="841248"/>
          </a:xfrm>
          <a:prstGeom prst="rect">
            <a:avLst/>
          </a:prstGeom>
          <a:solidFill>
            <a:srgbClr val="1F5FAF"/>
          </a:solidFill>
          <a:ln w="12700">
            <a:solidFill>
              <a:srgbClr val="1F5F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9476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Computer Labs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231343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Photos/video • equipment • software • capacity • timings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83464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EAF2FB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834640"/>
            <a:ext cx="73152" cy="841248"/>
          </a:xfrm>
          <a:prstGeom prst="rect">
            <a:avLst/>
          </a:prstGeom>
          <a:solidFill>
            <a:srgbClr val="1F5FAF"/>
          </a:solidFill>
          <a:ln w="12700">
            <a:solidFill>
              <a:srgbClr val="1F5F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9992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Electrical Engineering Lab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6968" y="336499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Photos/video • equipment • software • capacity • timings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388620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EAF2FB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886200"/>
            <a:ext cx="73152" cy="841248"/>
          </a:xfrm>
          <a:prstGeom prst="rect">
            <a:avLst/>
          </a:prstGeom>
          <a:solidFill>
            <a:srgbClr val="1F5FAF"/>
          </a:solidFill>
          <a:ln w="12700">
            <a:solidFill>
              <a:srgbClr val="1F5F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40507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Civil Engineering Lab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6968" y="441655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Photos/video • equipment • software • capacity • timings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78308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8ECE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783080"/>
            <a:ext cx="73152" cy="841248"/>
          </a:xfrm>
          <a:prstGeom prst="rect">
            <a:avLst/>
          </a:prstGeom>
          <a:solidFill>
            <a:srgbClr val="8A1527"/>
          </a:solidFill>
          <a:ln w="12700">
            <a:solidFill>
              <a:srgbClr val="8A15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19476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Mechanical Engineering Lab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19088" y="231343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Photos/video • equipment • software • capacity • timings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283464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8ECE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834640"/>
            <a:ext cx="73152" cy="841248"/>
          </a:xfrm>
          <a:prstGeom prst="rect">
            <a:avLst/>
          </a:prstGeom>
          <a:solidFill>
            <a:srgbClr val="8A1527"/>
          </a:solidFill>
          <a:ln w="12700">
            <a:solidFill>
              <a:srgbClr val="8A15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29992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Physics / Chemistry Labs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19088" y="336499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Photos/video • equipment • software • capacity • timings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88620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8ECE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3886200"/>
            <a:ext cx="73152" cy="841248"/>
          </a:xfrm>
          <a:prstGeom prst="rect">
            <a:avLst/>
          </a:prstGeom>
          <a:solidFill>
            <a:srgbClr val="8A1527"/>
          </a:solidFill>
          <a:ln w="12700">
            <a:solidFill>
              <a:srgbClr val="8A15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9088" y="40507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Software / Programming Lab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19088" y="441655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Photos/video • equipment • software • capacity • timings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5166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Add to every lab page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40280" y="5102352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5175504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5FAF"/>
                </a:solidFill>
              </a:rPr>
              <a:t>FACULTY IN-CHARGE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886200" y="5102352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F8ECEF"/>
          </a:solidFill>
          <a:ln w="12700">
            <a:solidFill>
              <a:srgbClr val="F8EC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59352" y="5175504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1527"/>
                </a:solidFill>
              </a:rPr>
              <a:t>ACCREDITATION / SAFETY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989320" y="510235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AF5F0"/>
          </a:solidFill>
          <a:ln w="12700">
            <a:solidFill>
              <a:srgbClr val="EAF5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62472" y="5175504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8B62"/>
                </a:solidFill>
              </a:rPr>
              <a:t>RELATED PROGRAMS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772400" y="5102352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FBF4E1"/>
          </a:solidFill>
          <a:ln w="12700">
            <a:solidFill>
              <a:srgbClr val="FBF4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45552" y="5175504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8A22D"/>
                </a:solidFill>
              </a:rPr>
              <a:t>HOSTEL + CAMPUS DETAILS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6928" y="6272784"/>
            <a:ext cx="1065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i="1" dirty="0">
                <a:solidFill>
                  <a:srgbClr val="7C8796"/>
                </a:solidFill>
              </a:rPr>
              <a:t>Source: supplied research document, pp. 6–8.</a:t>
            </a:r>
            <a:endParaRPr lang="en-US" sz="68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A1527"/>
                </a:solidFill>
              </a:rPr>
              <a:t>11 — DIGITAL UNIVERSITY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</a:rPr>
              <a:t>Recommended CECOS sitemap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Seven public-facing pillars, plus a persistent digital-services layer.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1481328" cy="374904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600200"/>
            <a:ext cx="1481328" cy="658368"/>
          </a:xfrm>
          <a:prstGeom prst="rect">
            <a:avLst/>
          </a:prstGeom>
          <a:solidFill>
            <a:srgbClr val="8A1527"/>
          </a:solidFill>
          <a:ln w="12700">
            <a:solidFill>
              <a:srgbClr val="8A15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75564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1. STUDY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2395728"/>
            <a:ext cx="124358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Program Finder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Undergraduate / Graduate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Departments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Faculty Directory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Curriculum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Compare Programs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075688" y="1600200"/>
            <a:ext cx="1481328" cy="374904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75688" y="1600200"/>
            <a:ext cx="1481328" cy="658368"/>
          </a:xfrm>
          <a:prstGeom prst="rect">
            <a:avLst/>
          </a:prstGeom>
          <a:solidFill>
            <a:srgbClr val="1F5FAF"/>
          </a:solidFill>
          <a:ln w="12700">
            <a:solidFill>
              <a:srgbClr val="1F5F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175564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2. ADMISSIONS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94560" y="2395728"/>
            <a:ext cx="124358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Apply Now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Eligibility Checker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Fees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Scholarships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Important Dates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FAQs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International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739896" y="1600200"/>
            <a:ext cx="1481328" cy="374904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9896" y="1600200"/>
            <a:ext cx="1481328" cy="658368"/>
          </a:xfrm>
          <a:prstGeom prst="rect">
            <a:avLst/>
          </a:prstGeom>
          <a:solidFill>
            <a:srgbClr val="2E8B62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13048" y="175564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3. RESEARCH &amp; INNOVATION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58768" y="2395728"/>
            <a:ext cx="124358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Research Areas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Centers / Labs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Researchers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Publications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Projects / Grants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ORIC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Industry Collaboration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404104" y="1600200"/>
            <a:ext cx="1481328" cy="374904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04104" y="1600200"/>
            <a:ext cx="1481328" cy="658368"/>
          </a:xfrm>
          <a:prstGeom prst="rect">
            <a:avLst/>
          </a:prstGeom>
          <a:solidFill>
            <a:srgbClr val="D8A22D"/>
          </a:solidFill>
          <a:ln w="12700">
            <a:solidFill>
              <a:srgbClr val="D8A2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77256" y="175564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4. STUDENT LIFE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22976" y="2395728"/>
            <a:ext cx="124358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Campus / Facilities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Societies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Sports / Events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Library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Hostel / Transport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Support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Careers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068312" y="1600200"/>
            <a:ext cx="1481328" cy="374904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68312" y="1600200"/>
            <a:ext cx="1481328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41464" y="175564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5. UNIVERSITY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87184" y="2395728"/>
            <a:ext cx="124358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About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Leadership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Facts &amp; Figures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Accreditation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Rankings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QEC / Policies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Annual Reports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8732520" y="1600200"/>
            <a:ext cx="1481328" cy="374904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32520" y="1600200"/>
            <a:ext cx="1481328" cy="658368"/>
          </a:xfrm>
          <a:prstGeom prst="rect">
            <a:avLst/>
          </a:prstGeom>
          <a:solidFill>
            <a:srgbClr val="556B8A"/>
          </a:solidFill>
          <a:ln w="12700">
            <a:solidFill>
              <a:srgbClr val="556B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05672" y="175564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6. COMMUNITY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51392" y="2395728"/>
            <a:ext cx="124358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Alumni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Employers / Industry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Partners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International Partners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Giving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Media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10396728" y="1600200"/>
            <a:ext cx="1481328" cy="374904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96728" y="1600200"/>
            <a:ext cx="1481328" cy="658368"/>
          </a:xfrm>
          <a:prstGeom prst="rect">
            <a:avLst/>
          </a:prstGeom>
          <a:solidFill>
            <a:srgbClr val="6B4E71"/>
          </a:solidFill>
          <a:ln w="12700">
            <a:solidFill>
              <a:srgbClr val="6B4E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69880" y="175564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7. NEWS &amp; INSIGHTS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515600" y="2395728"/>
            <a:ext cx="124358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University News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Research News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Student Stories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Alumni Stories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Events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182230"/>
                </a:solidFill>
              </a:rPr>
              <a:t>Announcements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3337560" y="5650992"/>
            <a:ext cx="5760720" cy="310896"/>
          </a:xfrm>
          <a:prstGeom prst="roundRect">
            <a:avLst>
              <a:gd name="adj" fmla="val 23529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10712" y="5724144"/>
            <a:ext cx="5614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PERSISTENT: SEARCH + APPLY NOW + DIGITAL SERVICES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6928" y="6272784"/>
            <a:ext cx="1065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i="1" dirty="0">
                <a:solidFill>
                  <a:srgbClr val="7C8796"/>
                </a:solidFill>
              </a:rPr>
              <a:t>Source: recommended sitemap developed from the supplied research document, pp. 9–13.</a:t>
            </a:r>
            <a:endParaRPr lang="en-US" sz="68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A1527"/>
                </a:solidFill>
              </a:rPr>
              <a:t>13 — PRODUCT BACKLOG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</a:rPr>
              <a:t>Highest-value features to add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Prioritized around user value, trust, discoverability and measurable conversion.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303520" cy="877824"/>
          </a:xfrm>
          <a:prstGeom prst="roundRect">
            <a:avLst>
              <a:gd name="adj" fmla="val 8333"/>
            </a:avLst>
          </a:prstGeom>
          <a:solidFill>
            <a:srgbClr val="F8ECE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00200"/>
            <a:ext cx="73152" cy="877824"/>
          </a:xfrm>
          <a:prstGeom prst="rect">
            <a:avLst/>
          </a:prstGeom>
          <a:solidFill>
            <a:srgbClr val="8A1527"/>
          </a:solidFill>
          <a:ln w="12700">
            <a:solidFill>
              <a:srgbClr val="8A15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647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P0  Program Finder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13055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Find programs by level, discipline, background and intake.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03520" cy="877824"/>
          </a:xfrm>
          <a:prstGeom prst="roundRect">
            <a:avLst>
              <a:gd name="adj" fmla="val 8333"/>
            </a:avLst>
          </a:prstGeom>
          <a:solidFill>
            <a:srgbClr val="F8ECE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600200"/>
            <a:ext cx="73152" cy="877824"/>
          </a:xfrm>
          <a:prstGeom prst="rect">
            <a:avLst/>
          </a:prstGeom>
          <a:solidFill>
            <a:srgbClr val="8A1527"/>
          </a:solidFill>
          <a:ln w="12700">
            <a:solidFill>
              <a:srgbClr val="8A15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7647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P0  Program Compare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19088" y="213055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Compare CS / SE / AI by duration, eligibility, fee, labs, faculty, research and careers.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5303520" cy="877824"/>
          </a:xfrm>
          <a:prstGeom prst="roundRect">
            <a:avLst>
              <a:gd name="adj" fmla="val 8333"/>
            </a:avLst>
          </a:prstGeom>
          <a:solidFill>
            <a:srgbClr val="F8ECE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651760"/>
            <a:ext cx="73152" cy="877824"/>
          </a:xfrm>
          <a:prstGeom prst="rect">
            <a:avLst/>
          </a:prstGeom>
          <a:solidFill>
            <a:srgbClr val="8A1527"/>
          </a:solidFill>
          <a:ln w="12700">
            <a:solidFill>
              <a:srgbClr val="8A15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81635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P0  Eligibility Checker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318211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Turn admission requirements into an interactive decision tool.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651760"/>
            <a:ext cx="5303520" cy="877824"/>
          </a:xfrm>
          <a:prstGeom prst="roundRect">
            <a:avLst>
              <a:gd name="adj" fmla="val 8333"/>
            </a:avLst>
          </a:prstGeom>
          <a:solidFill>
            <a:srgbClr val="F8ECE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651760"/>
            <a:ext cx="73152" cy="877824"/>
          </a:xfrm>
          <a:prstGeom prst="rect">
            <a:avLst/>
          </a:prstGeom>
          <a:solidFill>
            <a:srgbClr val="8A1527"/>
          </a:solidFill>
          <a:ln w="12700">
            <a:solidFill>
              <a:srgbClr val="8A15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281635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P0  Fee + Scholarship Tools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19088" y="318211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Estimate payable cost and match relevant funding/concession categories.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703320"/>
            <a:ext cx="5303520" cy="877824"/>
          </a:xfrm>
          <a:prstGeom prst="roundRect">
            <a:avLst>
              <a:gd name="adj" fmla="val 8333"/>
            </a:avLst>
          </a:prstGeom>
          <a:solidFill>
            <a:srgbClr val="EAF2FB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703320"/>
            <a:ext cx="73152" cy="877824"/>
          </a:xfrm>
          <a:prstGeom prst="rect">
            <a:avLst/>
          </a:prstGeom>
          <a:solidFill>
            <a:srgbClr val="1F5FAF"/>
          </a:solidFill>
          <a:ln w="12700">
            <a:solidFill>
              <a:srgbClr val="1F5F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386791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P1  Faculty Profiles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" y="423367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Person pages with research, publications, education and contact.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703320"/>
            <a:ext cx="5303520" cy="877824"/>
          </a:xfrm>
          <a:prstGeom prst="roundRect">
            <a:avLst>
              <a:gd name="adj" fmla="val 8333"/>
            </a:avLst>
          </a:prstGeom>
          <a:solidFill>
            <a:srgbClr val="EAF2FB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3703320"/>
            <a:ext cx="73152" cy="877824"/>
          </a:xfrm>
          <a:prstGeom prst="rect">
            <a:avLst/>
          </a:prstGeom>
          <a:solidFill>
            <a:srgbClr val="1F5FAF"/>
          </a:solidFill>
          <a:ln w="12700">
            <a:solidFill>
              <a:srgbClr val="1F5F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9088" y="386791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P1  Research Explorer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19088" y="423367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Researchers, projects, publications, grants, labs and commercialization.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754880"/>
            <a:ext cx="5303520" cy="877824"/>
          </a:xfrm>
          <a:prstGeom prst="roundRect">
            <a:avLst>
              <a:gd name="adj" fmla="val 8333"/>
            </a:avLst>
          </a:prstGeom>
          <a:solidFill>
            <a:srgbClr val="EAF2FB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754880"/>
            <a:ext cx="73152" cy="877824"/>
          </a:xfrm>
          <a:prstGeom prst="rect">
            <a:avLst/>
          </a:prstGeom>
          <a:solidFill>
            <a:srgbClr val="1F5FAF"/>
          </a:solidFill>
          <a:ln w="12700">
            <a:solidFill>
              <a:srgbClr val="1F5FA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491947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P1  Facilities &amp; Labs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1248" y="528523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Evidence-rich lab pages with equipment, photos and related programs.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4754880"/>
            <a:ext cx="5303520" cy="877824"/>
          </a:xfrm>
          <a:prstGeom prst="roundRect">
            <a:avLst>
              <a:gd name="adj" fmla="val 8333"/>
            </a:avLst>
          </a:prstGeom>
          <a:solidFill>
            <a:srgbClr val="EAF2FB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4754880"/>
            <a:ext cx="73152" cy="877824"/>
          </a:xfrm>
          <a:prstGeom prst="rect">
            <a:avLst/>
          </a:prstGeom>
          <a:solidFill>
            <a:srgbClr val="1F5FAF"/>
          </a:solidFill>
          <a:ln w="12700">
            <a:solidFill>
              <a:srgbClr val="1F5FA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088" y="491947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P1  Student Projects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19088" y="528523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FYP/capstone showcase with problem, technology, team, supervisor and outcomes.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5800" y="60167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</a:rPr>
              <a:t>Future differentiators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920240" y="5934456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93392" y="6007608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AI PROGRAM ADVISOR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11880" y="5934456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85032" y="600760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AI ADMISSIONS ASSISTANT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23560" y="5934456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96712" y="6007608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RESEARCH EXPLORER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315200" y="5934456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88352" y="600760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VIRTUAL CAMPUS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66928" y="6272784"/>
            <a:ext cx="1065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i="1" dirty="0">
                <a:solidFill>
                  <a:srgbClr val="7C8796"/>
                </a:solidFill>
              </a:rPr>
              <a:t>Source: feature prioritization in supplied research document and subsequent gap analysis.</a:t>
            </a:r>
            <a:endParaRPr lang="en-US" sz="68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A1527"/>
                </a:solidFill>
              </a:rPr>
              <a:t>15 — MEASUREMENT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</a:rPr>
              <a:t>How I would prove the project worked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Success is measured through search visibility, discovery, decision quality, conversion, trust, services and technical quality.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493008" cy="1572768"/>
          </a:xfrm>
          <a:prstGeom prst="roundRect">
            <a:avLst>
              <a:gd name="adj" fmla="val 4651"/>
            </a:avLst>
          </a:prstGeom>
          <a:solidFill>
            <a:srgbClr val="F8ECE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73152" cy="1572768"/>
          </a:xfrm>
          <a:prstGeom prst="rect">
            <a:avLst/>
          </a:prstGeom>
          <a:solidFill>
            <a:srgbClr val="8A1527"/>
          </a:solidFill>
          <a:ln w="12700">
            <a:solidFill>
              <a:srgbClr val="8A15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85623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SEO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" y="2221992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Non-brand impressions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Clicks • Avg. position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Indexed priority pages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493008" cy="1572768"/>
          </a:xfrm>
          <a:prstGeom prst="roundRect">
            <a:avLst>
              <a:gd name="adj" fmla="val 4651"/>
            </a:avLst>
          </a:prstGeom>
          <a:solidFill>
            <a:srgbClr val="EAF2FB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5112" y="1691640"/>
            <a:ext cx="73152" cy="1572768"/>
          </a:xfrm>
          <a:prstGeom prst="rect">
            <a:avLst/>
          </a:prstGeom>
          <a:solidFill>
            <a:srgbClr val="1F5FAF"/>
          </a:solidFill>
          <a:ln w="12700">
            <a:solidFill>
              <a:srgbClr val="1F5F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85623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Discovery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221992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Program finder usage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Search usage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Program page entrances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47304" y="1691640"/>
            <a:ext cx="3493008" cy="1572768"/>
          </a:xfrm>
          <a:prstGeom prst="roundRect">
            <a:avLst>
              <a:gd name="adj" fmla="val 4651"/>
            </a:avLst>
          </a:prstGeom>
          <a:solidFill>
            <a:srgbClr val="FBF4E1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47304" y="1691640"/>
            <a:ext cx="73152" cy="1572768"/>
          </a:xfrm>
          <a:prstGeom prst="rect">
            <a:avLst/>
          </a:prstGeom>
          <a:solidFill>
            <a:srgbClr val="D8A22D"/>
          </a:solidFill>
          <a:ln w="12700">
            <a:solidFill>
              <a:srgbClr val="D8A2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85623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Decision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48472" y="2221992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Eligibility checks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Fee / scholarship tool use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Compare usage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657600"/>
            <a:ext cx="3493008" cy="1572768"/>
          </a:xfrm>
          <a:prstGeom prst="roundRect">
            <a:avLst>
              <a:gd name="adj" fmla="val 4651"/>
            </a:avLst>
          </a:prstGeom>
          <a:solidFill>
            <a:srgbClr val="EAF5F0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657600"/>
            <a:ext cx="73152" cy="1572768"/>
          </a:xfrm>
          <a:prstGeom prst="rect">
            <a:avLst/>
          </a:prstGeom>
          <a:solidFill>
            <a:srgbClr val="2E8B62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382219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Conversion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" y="4187952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Apply clicks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Application starts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Completed applications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25112" y="3657600"/>
            <a:ext cx="3493008" cy="1572768"/>
          </a:xfrm>
          <a:prstGeom prst="roundRect">
            <a:avLst>
              <a:gd name="adj" fmla="val 4651"/>
            </a:avLst>
          </a:prstGeom>
          <a:solidFill>
            <a:srgbClr val="E8EDF3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25112" y="3657600"/>
            <a:ext cx="73152" cy="1572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382219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Trust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26280" y="4187952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Faculty profile views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Research engagement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Lab/facility views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47304" y="3657600"/>
            <a:ext cx="3493008" cy="1572768"/>
          </a:xfrm>
          <a:prstGeom prst="roundRect">
            <a:avLst>
              <a:gd name="adj" fmla="val 4651"/>
            </a:avLst>
          </a:prstGeom>
          <a:solidFill>
            <a:srgbClr val="E8EDF3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47304" y="3657600"/>
            <a:ext cx="73152" cy="1572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48472" y="382219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Service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48472" y="4187952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Helpdesk cases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Portal click-through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Results / verification use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57150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Quality layer: broken links • outdated pages • schema validity • Core Web Vitals • data consistency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6272784"/>
            <a:ext cx="1065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i="1" dirty="0">
                <a:solidFill>
                  <a:srgbClr val="7C8796"/>
                </a:solidFill>
              </a:rPr>
              <a:t>Source: KPI framework in supplied research document. Exact baselines require CECOS Analytics/Search Console.</a:t>
            </a:r>
            <a:endParaRPr lang="en-US" sz="68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A1527"/>
                </a:solidFill>
              </a:rPr>
              <a:t>16 — DEFENSE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</a:rPr>
              <a:t>Why this is my research work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This slide is the answer when someone asks: “What exactly did you do?”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5166360" cy="1572768"/>
          </a:xfrm>
          <a:prstGeom prst="roundRect">
            <a:avLst>
              <a:gd name="adj" fmla="val 4651"/>
            </a:avLst>
          </a:prstGeom>
          <a:solidFill>
            <a:srgbClr val="F8ECE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91640"/>
            <a:ext cx="73152" cy="1572768"/>
          </a:xfrm>
          <a:prstGeom prst="rect">
            <a:avLst/>
          </a:prstGeom>
          <a:solidFill>
            <a:srgbClr val="8A1527"/>
          </a:solidFill>
          <a:ln w="12700">
            <a:solidFill>
              <a:srgbClr val="8A15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8562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 audited my own university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222199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Captured concrete interface/content observations rather than relying on generic web-design advice.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166360" cy="1572768"/>
          </a:xfrm>
          <a:prstGeom prst="roundRect">
            <a:avLst>
              <a:gd name="adj" fmla="val 4651"/>
            </a:avLst>
          </a:prstGeom>
          <a:solidFill>
            <a:srgbClr val="EAF2FB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691640"/>
            <a:ext cx="73152" cy="1572768"/>
          </a:xfrm>
          <a:prstGeom prst="rect">
            <a:avLst/>
          </a:prstGeom>
          <a:solidFill>
            <a:srgbClr val="1F5FAF"/>
          </a:solidFill>
          <a:ln w="12700">
            <a:solidFill>
              <a:srgbClr val="1F5F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8562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 benchmarked 10 universities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73368" y="222199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Five Pakistani + five international sites, each studied for a specific pattern.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3657600"/>
            <a:ext cx="5166360" cy="1572768"/>
          </a:xfrm>
          <a:prstGeom prst="roundRect">
            <a:avLst>
              <a:gd name="adj" fmla="val 4651"/>
            </a:avLst>
          </a:prstGeom>
          <a:solidFill>
            <a:srgbClr val="F8ECE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657600"/>
            <a:ext cx="73152" cy="1572768"/>
          </a:xfrm>
          <a:prstGeom prst="rect">
            <a:avLst/>
          </a:prstGeom>
          <a:solidFill>
            <a:srgbClr val="8A1527"/>
          </a:solidFill>
          <a:ln w="12700">
            <a:solidFill>
              <a:srgbClr val="8A15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8221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 identified gaps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6968" y="418795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Program discovery, faculty depth, research visibility, facilities evidence, fragmented services and search foundations.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3657600"/>
            <a:ext cx="5166360" cy="1572768"/>
          </a:xfrm>
          <a:prstGeom prst="roundRect">
            <a:avLst>
              <a:gd name="adj" fmla="val 4651"/>
            </a:avLst>
          </a:prstGeom>
          <a:solidFill>
            <a:srgbClr val="EAF2FB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3657600"/>
            <a:ext cx="73152" cy="1572768"/>
          </a:xfrm>
          <a:prstGeom prst="rect">
            <a:avLst/>
          </a:prstGeom>
          <a:solidFill>
            <a:srgbClr val="1F5FAF"/>
          </a:solidFill>
          <a:ln w="12700">
            <a:solidFill>
              <a:srgbClr val="1F5F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38221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 converted findings into a system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73368" y="418795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82230"/>
                </a:solidFill>
              </a:rPr>
              <a:t>Sitemap, user journey, Golden Triangle, features, MVP roadmap and KPI framework.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51560" y="5715000"/>
            <a:ext cx="10058400" cy="502920"/>
          </a:xfrm>
          <a:prstGeom prst="roundRect">
            <a:avLst>
              <a:gd name="adj" fmla="val 1272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5870448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THE CONTRIBUTION: a research-led product recommendation — restructure the digital university first, then redesign the visual interface.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6272784"/>
            <a:ext cx="1065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i="1" dirty="0">
                <a:solidFill>
                  <a:srgbClr val="7C8796"/>
                </a:solidFill>
              </a:rPr>
              <a:t>Source: research contribution and one-line defense from supplied document.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6" descr="https://lh7-us.googleusercontent.com/gg-dl/AAQ_wbGNrkUa4T34WClpHHIaZjLw2nwnuMXtrsQ3tqSrDPpPsXxnnHfLFTv0opjpnTnfG2h1aahmhQGMcPjgbFLZd0cHP5dJqvy8gHBnyOYhWz4l_uvQDVMbZX5DfaCjgJNK398Uh7PkAvdYvft8JK4ucbkIVahOXfYpzbwPmIFhwp6RZbPsQA=w1376-h768?authuser=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511800" y="469900"/>
            <a:ext cx="4368800" cy="4445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85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523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1359</Words>
  <Application>Microsoft Office PowerPoint</Application>
  <PresentationFormat>Widescreen</PresentationFormat>
  <Paragraphs>266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Arial Unicode MS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CECOS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CECOS University — Website Research &amp; Digital Architecture</dc:title>
  <dc:subject>CECOS University website research and digital architecture</dc:subject>
  <dc:creator>Yaseen Ahmad</dc:creator>
  <cp:lastModifiedBy>Yaseen Khan</cp:lastModifiedBy>
  <cp:revision>15</cp:revision>
  <dcterms:created xsi:type="dcterms:W3CDTF">2026-08-20T07:14:01Z</dcterms:created>
  <dcterms:modified xsi:type="dcterms:W3CDTF">2026-08-20T10:50:19Z</dcterms:modified>
</cp:coreProperties>
</file>